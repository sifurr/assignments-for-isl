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1" r:id="rId6"/>
    <p:sldId id="284" r:id="rId7"/>
    <p:sldId id="285" r:id="rId8"/>
    <p:sldId id="283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8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Number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>
                <a:solidFill>
                  <a:srgbClr val="5792BA"/>
                </a:solidFill>
              </a:rPr>
              <a:t>Presentation by Saifur Rahman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31079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Decimal → Binary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C777D-47CF-66DD-A104-EEC4EC82AA4B}"/>
              </a:ext>
            </a:extLst>
          </p:cNvPr>
          <p:cNvSpPr txBox="1"/>
          <p:nvPr/>
        </p:nvSpPr>
        <p:spPr>
          <a:xfrm>
            <a:off x="2127927" y="3301386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convert a Decimal number to a Binary number we have divide the decimal number with 2 like below and arrange from Most Significant Bit (MSB) to Less Significant Bit (LSB).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5A9D20-138E-925A-E32B-2C93D7DB0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20876"/>
              </p:ext>
            </p:extLst>
          </p:nvPr>
        </p:nvGraphicFramePr>
        <p:xfrm>
          <a:off x="3516027" y="4417306"/>
          <a:ext cx="4054007" cy="155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855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1514008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</a:tblGrid>
              <a:tr h="389942">
                <a:tc>
                  <a:txBody>
                    <a:bodyPr/>
                    <a:lstStyle/>
                    <a:p>
                      <a:r>
                        <a:rPr lang="en-US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Quotient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FD3A1D-AD7E-9D0B-F812-CFC130CE70D9}"/>
              </a:ext>
            </a:extLst>
          </p:cNvPr>
          <p:cNvCxnSpPr>
            <a:cxnSpLocks/>
          </p:cNvCxnSpPr>
          <p:nvPr/>
        </p:nvCxnSpPr>
        <p:spPr>
          <a:xfrm flipV="1">
            <a:off x="7734927" y="4849947"/>
            <a:ext cx="0" cy="114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B9B87B-97C8-D6CE-0A7C-942E605EC92E}"/>
              </a:ext>
            </a:extLst>
          </p:cNvPr>
          <p:cNvSpPr txBox="1"/>
          <p:nvPr/>
        </p:nvSpPr>
        <p:spPr>
          <a:xfrm>
            <a:off x="7802545" y="478998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LSB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432012-B947-C757-87E6-7F21F39189CE}"/>
              </a:ext>
            </a:extLst>
          </p:cNvPr>
          <p:cNvSpPr txBox="1"/>
          <p:nvPr/>
        </p:nvSpPr>
        <p:spPr>
          <a:xfrm>
            <a:off x="7779897" y="563693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D04E92-6CE0-8D7B-5CAC-678195CA71EB}"/>
              </a:ext>
            </a:extLst>
          </p:cNvPr>
          <p:cNvSpPr txBox="1"/>
          <p:nvPr/>
        </p:nvSpPr>
        <p:spPr>
          <a:xfrm>
            <a:off x="2105607" y="1183227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Decimal</a:t>
            </a:r>
            <a:r>
              <a:rPr lang="en-US" dirty="0"/>
              <a:t>: This is the common number system we use every day. It uses </a:t>
            </a:r>
            <a:r>
              <a:rPr lang="en-US" b="1" dirty="0"/>
              <a:t>10 digits </a:t>
            </a:r>
            <a:r>
              <a:rPr lang="en-US" dirty="0"/>
              <a:t>(</a:t>
            </a:r>
            <a:r>
              <a:rPr lang="en-US" b="1" dirty="0"/>
              <a:t>0</a:t>
            </a:r>
            <a:r>
              <a:rPr lang="en-US" dirty="0"/>
              <a:t> through </a:t>
            </a:r>
            <a:r>
              <a:rPr lang="en-US" b="1" dirty="0"/>
              <a:t>9</a:t>
            </a:r>
            <a:r>
              <a:rPr lang="en-US" dirty="0"/>
              <a:t>). The position of each digit is based on powers of 10.</a:t>
            </a:r>
          </a:p>
          <a:p>
            <a:r>
              <a:rPr lang="en-US" b="1" dirty="0"/>
              <a:t>Example</a:t>
            </a:r>
            <a:r>
              <a:rPr lang="en-US" dirty="0"/>
              <a:t>: 5</a:t>
            </a:r>
            <a:r>
              <a:rPr lang="en-US" baseline="-25000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7F9EA8-ECFA-1EDB-7DFE-DBC5C03741B9}"/>
              </a:ext>
            </a:extLst>
          </p:cNvPr>
          <p:cNvSpPr txBox="1"/>
          <p:nvPr/>
        </p:nvSpPr>
        <p:spPr>
          <a:xfrm>
            <a:off x="2127927" y="2268233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Binary</a:t>
            </a:r>
            <a:r>
              <a:rPr lang="en-US" dirty="0"/>
              <a:t>: This system is used by computers. It only uses 2 digits: </a:t>
            </a:r>
            <a:r>
              <a:rPr lang="en-US" b="1" dirty="0"/>
              <a:t>0 </a:t>
            </a:r>
            <a:r>
              <a:rPr lang="en-US" dirty="0"/>
              <a:t>and</a:t>
            </a:r>
            <a:r>
              <a:rPr lang="en-US" b="1" dirty="0"/>
              <a:t> 1</a:t>
            </a:r>
            <a:r>
              <a:rPr lang="en-US" dirty="0"/>
              <a:t>. Each position is based on powers of 2.</a:t>
            </a:r>
          </a:p>
          <a:p>
            <a:r>
              <a:rPr lang="en-US" altLang="en-US" b="1" dirty="0">
                <a:latin typeface="Google Sans Text"/>
              </a:rPr>
              <a:t>Example:</a:t>
            </a:r>
            <a:r>
              <a:rPr lang="en-US" altLang="en-US" dirty="0"/>
              <a:t> </a:t>
            </a:r>
            <a:r>
              <a:rPr lang="en-US" altLang="en-US" dirty="0">
                <a:latin typeface="Google Sans Text"/>
              </a:rPr>
              <a:t>1011</a:t>
            </a:r>
            <a:r>
              <a:rPr lang="en-US" altLang="en-US" baseline="-25000" dirty="0">
                <a:latin typeface="Google Sans Text"/>
              </a:rPr>
              <a:t>2</a:t>
            </a:r>
            <a:r>
              <a:rPr lang="en-US" altLang="en-US" dirty="0"/>
              <a:t> (This is 11 in decimal)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C84DAE-365E-AA22-793C-D8350BB5977D}"/>
              </a:ext>
            </a:extLst>
          </p:cNvPr>
          <p:cNvSpPr txBox="1"/>
          <p:nvPr/>
        </p:nvSpPr>
        <p:spPr>
          <a:xfrm>
            <a:off x="3516027" y="6137299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5</a:t>
            </a:r>
            <a:r>
              <a:rPr lang="en-US" baseline="-25000" dirty="0"/>
              <a:t>10</a:t>
            </a:r>
            <a:r>
              <a:rPr lang="en-US" dirty="0"/>
              <a:t> = 101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F8B5E-A1C9-6485-9D5F-F15830C0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5892-AA03-A247-778D-7D697D37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31079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→ 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02E70-CD3C-CAC9-C962-7B1BC5408D6A}"/>
              </a:ext>
            </a:extLst>
          </p:cNvPr>
          <p:cNvSpPr txBox="1"/>
          <p:nvPr/>
        </p:nvSpPr>
        <p:spPr>
          <a:xfrm>
            <a:off x="2029228" y="985289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convert a binary number to a decimal number we have to follow the beneath instruction.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1916C6-D7D1-3E0A-A04F-352E7826908A}"/>
              </a:ext>
            </a:extLst>
          </p:cNvPr>
          <p:cNvGraphicFramePr>
            <a:graphicFrameLocks noGrp="1"/>
          </p:cNvGraphicFramePr>
          <p:nvPr/>
        </p:nvGraphicFramePr>
        <p:xfrm>
          <a:off x="3655318" y="3972393"/>
          <a:ext cx="553365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6332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648698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2098622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</a:tblGrid>
              <a:tr h="5999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Digit (b</a:t>
                      </a:r>
                      <a:r>
                        <a:rPr lang="en-US" baseline="-25000" dirty="0"/>
                        <a:t>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Power of 2 (2</a:t>
                      </a:r>
                      <a:r>
                        <a:rPr lang="en-US" baseline="30000" dirty="0"/>
                        <a:t>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Positional Value (b</a:t>
                      </a:r>
                      <a:r>
                        <a:rPr lang="en-US" baseline="-25000" dirty="0"/>
                        <a:t>n</a:t>
                      </a:r>
                      <a:r>
                        <a:rPr lang="en-US" dirty="0"/>
                        <a:t> x 2</a:t>
                      </a:r>
                      <a:r>
                        <a:rPr lang="en-US" baseline="30000" dirty="0"/>
                        <a:t>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655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r>
                        <a:rPr lang="en-US" b="1" baseline="30000" dirty="0"/>
                        <a:t>0 </a:t>
                      </a:r>
                      <a:r>
                        <a:rPr lang="en-US" b="1" dirty="0"/>
                        <a:t>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x 1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655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r>
                        <a:rPr lang="en-US" b="1" baseline="30000" dirty="0"/>
                        <a:t>1 </a:t>
                      </a:r>
                      <a:r>
                        <a:rPr lang="en-US" b="1" dirty="0"/>
                        <a:t>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 x 2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655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r>
                        <a:rPr lang="en-US" b="1" baseline="30000" dirty="0"/>
                        <a:t>2 </a:t>
                      </a:r>
                      <a:r>
                        <a:rPr lang="en-US" b="1" dirty="0"/>
                        <a:t>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x 4 =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17DE60-022C-3D6F-9001-AA11811FE109}"/>
              </a:ext>
            </a:extLst>
          </p:cNvPr>
          <p:cNvSpPr txBox="1"/>
          <p:nvPr/>
        </p:nvSpPr>
        <p:spPr>
          <a:xfrm>
            <a:off x="5301167" y="5872711"/>
            <a:ext cx="2848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101</a:t>
            </a:r>
            <a:r>
              <a:rPr lang="en-US" baseline="-25000" dirty="0"/>
              <a:t>2 </a:t>
            </a:r>
            <a:r>
              <a:rPr lang="en-US" dirty="0"/>
              <a:t>= 1 + 0 + 4 = 5</a:t>
            </a:r>
            <a:r>
              <a:rPr lang="en-US" baseline="-25000" dirty="0"/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DD40A-010A-F839-D3DC-1E7A77365AD5}"/>
              </a:ext>
            </a:extLst>
          </p:cNvPr>
          <p:cNvSpPr txBox="1"/>
          <p:nvPr/>
        </p:nvSpPr>
        <p:spPr>
          <a:xfrm>
            <a:off x="2422464" y="4596138"/>
            <a:ext cx="121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Rightmost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94732-7EDA-8551-1807-5A31C9A0C884}"/>
              </a:ext>
            </a:extLst>
          </p:cNvPr>
          <p:cNvSpPr txBox="1"/>
          <p:nvPr/>
        </p:nvSpPr>
        <p:spPr>
          <a:xfrm>
            <a:off x="2548339" y="5335667"/>
            <a:ext cx="106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Leftmost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A01BF-0325-37FD-A13D-1F7F983C73B1}"/>
              </a:ext>
            </a:extLst>
          </p:cNvPr>
          <p:cNvSpPr txBox="1"/>
          <p:nvPr/>
        </p:nvSpPr>
        <p:spPr>
          <a:xfrm>
            <a:off x="2029228" y="1671345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Write down the binary number. Starting from the rightmost digit, assign increasing powers of 2 to each digit's position, starting with 2</a:t>
            </a:r>
            <a:r>
              <a:rPr lang="en-US" baseline="30000" dirty="0"/>
              <a:t>0</a:t>
            </a:r>
            <a:r>
              <a:rPr lang="en-US" dirty="0"/>
              <a:t> (which is 1).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BFF287-3301-42F3-5915-9F464CD3E85E}"/>
              </a:ext>
            </a:extLst>
          </p:cNvPr>
          <p:cNvSpPr txBox="1"/>
          <p:nvPr/>
        </p:nvSpPr>
        <p:spPr>
          <a:xfrm>
            <a:off x="2029228" y="2362201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Multiply each binary digit (0 or 1) by its corresponding power of 2.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7CBBD-767C-CC8B-9C4B-A3C01E9169AA}"/>
              </a:ext>
            </a:extLst>
          </p:cNvPr>
          <p:cNvSpPr txBox="1"/>
          <p:nvPr/>
        </p:nvSpPr>
        <p:spPr>
          <a:xfrm>
            <a:off x="2029228" y="2784438"/>
            <a:ext cx="772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Sum all the results from Step 2. This final sum is the decimal equivalent.</a:t>
            </a:r>
          </a:p>
        </p:txBody>
      </p:sp>
    </p:spTree>
    <p:extLst>
      <p:ext uri="{BB962C8B-B14F-4D97-AF65-F5344CB8AC3E}">
        <p14:creationId xmlns:p14="http://schemas.microsoft.com/office/powerpoint/2010/main" val="30222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87C02-8D60-6C19-D8F3-19C3797C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761A-7971-3BF4-DF05-CDBEDB99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87" y="788409"/>
            <a:ext cx="9713626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Fractional Decimal → Binary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4C1A4-CC82-DE65-A30A-4723BDEC36D0}"/>
              </a:ext>
            </a:extLst>
          </p:cNvPr>
          <p:cNvSpPr txBox="1"/>
          <p:nvPr/>
        </p:nvSpPr>
        <p:spPr>
          <a:xfrm>
            <a:off x="2237018" y="1753886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method involves repeatedly multiplying the fractional part by 2 and recording the integer part as the binary digit. The process stops when the fractional part becomes exactly 0.00.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4E99D-D9B1-3E5D-F1D9-F0B12DCAD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114205"/>
              </p:ext>
            </p:extLst>
          </p:nvPr>
        </p:nvGraphicFramePr>
        <p:xfrm>
          <a:off x="3132680" y="3049063"/>
          <a:ext cx="5523042" cy="1809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16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2578308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</a:tblGrid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Fractional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Digit (Integer Part)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0.625 x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0.25 x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899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0.50 x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514085-15DF-0E28-4980-F1A41C922EEF}"/>
              </a:ext>
            </a:extLst>
          </p:cNvPr>
          <p:cNvCxnSpPr>
            <a:cxnSpLocks/>
          </p:cNvCxnSpPr>
          <p:nvPr/>
        </p:nvCxnSpPr>
        <p:spPr>
          <a:xfrm flipV="1">
            <a:off x="8865586" y="3702653"/>
            <a:ext cx="0" cy="114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0B8D9E-545A-188C-629B-CC2EF3020BA4}"/>
              </a:ext>
            </a:extLst>
          </p:cNvPr>
          <p:cNvSpPr txBox="1"/>
          <p:nvPr/>
        </p:nvSpPr>
        <p:spPr>
          <a:xfrm>
            <a:off x="8933204" y="3642693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5F65DA-9100-6E27-FA27-E5809ED25E77}"/>
              </a:ext>
            </a:extLst>
          </p:cNvPr>
          <p:cNvSpPr txBox="1"/>
          <p:nvPr/>
        </p:nvSpPr>
        <p:spPr>
          <a:xfrm>
            <a:off x="8910556" y="448963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C3FAC0-3FDA-776F-AC41-26F85066A3BE}"/>
              </a:ext>
            </a:extLst>
          </p:cNvPr>
          <p:cNvSpPr txBox="1"/>
          <p:nvPr/>
        </p:nvSpPr>
        <p:spPr>
          <a:xfrm>
            <a:off x="3025732" y="5257250"/>
            <a:ext cx="223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0.625</a:t>
            </a:r>
            <a:r>
              <a:rPr lang="en-US" baseline="-25000" dirty="0"/>
              <a:t>10</a:t>
            </a:r>
            <a:r>
              <a:rPr lang="en-US" dirty="0"/>
              <a:t> = 0.101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685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B70E8-075E-43F9-2045-ECF25240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6733-F6DF-A000-0C95-F60BE017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967" y="310798"/>
            <a:ext cx="9173981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Two’s Compliment → Decimal 1</a:t>
            </a:r>
            <a:r>
              <a:rPr lang="en-US" baseline="30000" dirty="0"/>
              <a:t>st</a:t>
            </a:r>
            <a:r>
              <a:rPr lang="en-US" dirty="0"/>
              <a:t> part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1B5A7-79EA-192F-2DF9-43AA897BAFD1}"/>
              </a:ext>
            </a:extLst>
          </p:cNvPr>
          <p:cNvSpPr txBox="1"/>
          <p:nvPr/>
        </p:nvSpPr>
        <p:spPr>
          <a:xfrm>
            <a:off x="2029228" y="985289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Two’s Compliment is used to represent negative integers in computers. The leftmost bit (0 or 1) shows the sign.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E7C29-77A5-8127-7487-D5CB7B36A496}"/>
              </a:ext>
            </a:extLst>
          </p:cNvPr>
          <p:cNvSpPr txBox="1"/>
          <p:nvPr/>
        </p:nvSpPr>
        <p:spPr>
          <a:xfrm>
            <a:off x="2029228" y="1671345"/>
            <a:ext cx="80810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Converting Two's Complement and Signed Binary (Sign-Magnitude) numbers back to decimal requires slightly different processes, especially for negative numbers.</a:t>
            </a:r>
          </a:p>
          <a:p>
            <a:endParaRPr lang="en-US" dirty="0"/>
          </a:p>
          <a:p>
            <a:r>
              <a:rPr lang="en-US" dirty="0"/>
              <a:t>The method depends on whether the number is positive or negative. In a Two's Complement system, you must know the total bit length (e.g., 8-bit, 16-bit).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BBA6BB-4610-CC15-BC7C-0548B838C4DD}"/>
              </a:ext>
            </a:extLst>
          </p:cNvPr>
          <p:cNvSpPr txBox="1"/>
          <p:nvPr/>
        </p:nvSpPr>
        <p:spPr>
          <a:xfrm>
            <a:off x="2029228" y="3744809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US" dirty="0"/>
              <a:t>If the Most Significant Bit (MSB), or the leftmost digit, is 0, the number is positive. Convert it to decimal just like a regular binary number.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17BE9-3ED0-C57A-F834-6D27B2D6D2DB}"/>
              </a:ext>
            </a:extLst>
          </p:cNvPr>
          <p:cNvSpPr txBox="1"/>
          <p:nvPr/>
        </p:nvSpPr>
        <p:spPr>
          <a:xfrm>
            <a:off x="2029228" y="4661708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Convert the 4-bit Two's Complement number </a:t>
            </a:r>
            <a:r>
              <a:rPr lang="en-US" b="1" dirty="0"/>
              <a:t>0101</a:t>
            </a:r>
            <a:r>
              <a:rPr lang="en-US" b="1" baseline="-250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AEEAC-185B-3D85-4EF0-1E3411D90600}"/>
              </a:ext>
            </a:extLst>
          </p:cNvPr>
          <p:cNvSpPr txBox="1"/>
          <p:nvPr/>
        </p:nvSpPr>
        <p:spPr>
          <a:xfrm>
            <a:off x="2029228" y="5186655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0101</a:t>
            </a:r>
            <a:r>
              <a:rPr lang="en-US" b="1" baseline="-25000" dirty="0"/>
              <a:t>2</a:t>
            </a:r>
            <a:r>
              <a:rPr lang="en-US" b="1" dirty="0"/>
              <a:t> = (0 x 2</a:t>
            </a:r>
            <a:r>
              <a:rPr lang="en-US" b="1" baseline="30000" dirty="0"/>
              <a:t>3</a:t>
            </a:r>
            <a:r>
              <a:rPr lang="en-US" b="1" dirty="0"/>
              <a:t>) + (1 x 2</a:t>
            </a:r>
            <a:r>
              <a:rPr lang="en-US" b="1" baseline="30000" dirty="0"/>
              <a:t>2</a:t>
            </a:r>
            <a:r>
              <a:rPr lang="en-US" b="1" dirty="0"/>
              <a:t>) + (0 x 2</a:t>
            </a:r>
            <a:r>
              <a:rPr lang="en-US" b="1" baseline="30000" dirty="0"/>
              <a:t>1</a:t>
            </a:r>
            <a:r>
              <a:rPr lang="en-US" b="1" dirty="0"/>
              <a:t>) + (1 x 2</a:t>
            </a:r>
            <a:r>
              <a:rPr lang="en-US" b="1" baseline="30000" dirty="0"/>
              <a:t>0</a:t>
            </a:r>
            <a:r>
              <a:rPr lang="en-US" b="1" dirty="0"/>
              <a:t>)</a:t>
            </a:r>
            <a:endParaRPr lang="en-US" b="1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5B2393-457D-328A-A773-DE6666FB6A04}"/>
              </a:ext>
            </a:extLst>
          </p:cNvPr>
          <p:cNvSpPr txBox="1"/>
          <p:nvPr/>
        </p:nvSpPr>
        <p:spPr>
          <a:xfrm>
            <a:off x="2029228" y="5560829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0101</a:t>
            </a:r>
            <a:r>
              <a:rPr lang="en-US" b="1" baseline="-25000" dirty="0"/>
              <a:t>2</a:t>
            </a:r>
            <a:r>
              <a:rPr lang="en-US" b="1" dirty="0"/>
              <a:t> = 0 + 4 + 0 + 1 = +5</a:t>
            </a:r>
            <a:endParaRPr lang="en-US" b="1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30BD8-72DB-BB6A-3DA6-3D2828A057B3}"/>
              </a:ext>
            </a:extLst>
          </p:cNvPr>
          <p:cNvSpPr txBox="1"/>
          <p:nvPr/>
        </p:nvSpPr>
        <p:spPr>
          <a:xfrm>
            <a:off x="5620053" y="6362536"/>
            <a:ext cx="8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P. T. O</a:t>
            </a:r>
            <a:endParaRPr lang="en-US" b="1" baseline="-25000" dirty="0"/>
          </a:p>
        </p:txBody>
      </p:sp>
    </p:spTree>
    <p:extLst>
      <p:ext uri="{BB962C8B-B14F-4D97-AF65-F5344CB8AC3E}">
        <p14:creationId xmlns:p14="http://schemas.microsoft.com/office/powerpoint/2010/main" val="181278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B5A5D-CEB0-C701-AB4B-068C6BE5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6FE9-E665-C972-9B28-8608ACB8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967" y="310798"/>
            <a:ext cx="9173981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Two’s Compliment → Decimal 2</a:t>
            </a:r>
            <a:r>
              <a:rPr lang="en-US" baseline="30000" dirty="0"/>
              <a:t>nd</a:t>
            </a:r>
            <a:r>
              <a:rPr lang="en-US" dirty="0"/>
              <a:t> part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495B7-2AB0-A8A0-6EFF-D427F3C963F9}"/>
              </a:ext>
            </a:extLst>
          </p:cNvPr>
          <p:cNvSpPr txBox="1"/>
          <p:nvPr/>
        </p:nvSpPr>
        <p:spPr>
          <a:xfrm>
            <a:off x="1924296" y="1274665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</a:t>
            </a:r>
            <a:r>
              <a:rPr lang="en-US" dirty="0"/>
              <a:t>If the Sign Bit is 1 (Negative Number)If the MSB is 1, the number is negative. To find its magnitude, you must first convert it back to its positive form by finding its Two's Complement again.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469E65-163B-C4ED-F1D3-834ACD7CBF02}"/>
              </a:ext>
            </a:extLst>
          </p:cNvPr>
          <p:cNvSpPr txBox="1"/>
          <p:nvPr/>
        </p:nvSpPr>
        <p:spPr>
          <a:xfrm>
            <a:off x="2374000" y="2413337"/>
            <a:ext cx="8081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LcParenR"/>
            </a:pPr>
            <a:r>
              <a:rPr lang="en-US" dirty="0"/>
              <a:t>Find the One's Complement (flip all the bits: 0 -&gt; 1, 1 -&gt; 0). </a:t>
            </a:r>
          </a:p>
          <a:p>
            <a:pPr marL="400050" indent="-400050">
              <a:buAutoNum type="romanLcParenR"/>
            </a:pPr>
            <a:r>
              <a:rPr lang="en-US" dirty="0"/>
              <a:t>Add 1 to the result to get the positive magnitude (Two's Complement).</a:t>
            </a:r>
          </a:p>
          <a:p>
            <a:pPr marL="400050" indent="-400050">
              <a:buAutoNum type="romanLcParenR"/>
            </a:pPr>
            <a:r>
              <a:rPr lang="en-US" dirty="0"/>
              <a:t>Convert the resulting positive binary number to decimal and then add a minus sign (-).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6DC84-29BA-49A2-6BA0-33E422728BA9}"/>
              </a:ext>
            </a:extLst>
          </p:cNvPr>
          <p:cNvSpPr txBox="1"/>
          <p:nvPr/>
        </p:nvSpPr>
        <p:spPr>
          <a:xfrm>
            <a:off x="2374000" y="3644342"/>
            <a:ext cx="651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 </a:t>
            </a:r>
            <a:r>
              <a:rPr lang="en-US" dirty="0"/>
              <a:t>Convert the 4-bit Two's Complement number 1101</a:t>
            </a:r>
            <a:r>
              <a:rPr lang="en-US" baseline="-25000" dirty="0"/>
              <a:t>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C976AE-8CC6-422A-F707-45204A806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901087"/>
              </p:ext>
            </p:extLst>
          </p:nvPr>
        </p:nvGraphicFramePr>
        <p:xfrm>
          <a:off x="2420357" y="4156458"/>
          <a:ext cx="7584999" cy="2225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539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2792823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1955637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</a:tblGrid>
              <a:tr h="6476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Result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Negative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1’s Compliment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Flip all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2’s Compliment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Decimal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1101</a:t>
                      </a:r>
                      <a:r>
                        <a:rPr lang="en-US" b="1" baseline="-25000" dirty="0"/>
                        <a:t>2</a:t>
                      </a:r>
                      <a:r>
                        <a:rPr lang="en-US" b="1" dirty="0"/>
                        <a:t> --&gt; 3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―3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2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23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A05D9-F58C-4779-162E-21DCC559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F21B-791B-5E27-8EDD-1A76D0EE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967" y="265828"/>
            <a:ext cx="9173981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Binary → Decimal 1</a:t>
            </a:r>
            <a:r>
              <a:rPr lang="en-US" baseline="30000" dirty="0"/>
              <a:t>st</a:t>
            </a:r>
            <a:r>
              <a:rPr lang="en-US" dirty="0"/>
              <a:t> part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906A1-E4C9-98AC-3A8E-9B2D9DE4A538}"/>
              </a:ext>
            </a:extLst>
          </p:cNvPr>
          <p:cNvSpPr txBox="1"/>
          <p:nvPr/>
        </p:nvSpPr>
        <p:spPr>
          <a:xfrm>
            <a:off x="1914861" y="1020513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Signed Binary A simple way to represent positive or negative numbers where the leftmost bit is reserved purely for the sign.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BD16D0-F12C-7901-38A6-8F1C7857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861" y="1752642"/>
            <a:ext cx="9173981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Look at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MSB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(leftmost bit) to determine the sign.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 = Positive (+)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= Negative (-)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 the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remaining magnitude bits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 decimal number using the standard positional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Combine the sign and the magnitude.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1 (Positive):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 the 4-bit Signed Binary number 0101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Sign Bit: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 (Positive +)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Magnitude Bits: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Magnitude Decimal: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(1 x 2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+ (0 x 2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+ (1 x 2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= 4 + 0 + 1 = 5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85719-64D9-143C-2578-4430CFE93D5F}"/>
              </a:ext>
            </a:extLst>
          </p:cNvPr>
          <p:cNvSpPr txBox="1"/>
          <p:nvPr/>
        </p:nvSpPr>
        <p:spPr>
          <a:xfrm>
            <a:off x="10298243" y="6362536"/>
            <a:ext cx="8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P. T. O</a:t>
            </a:r>
            <a:endParaRPr lang="en-US" b="1" baseline="-25000" dirty="0"/>
          </a:p>
        </p:txBody>
      </p:sp>
    </p:spTree>
    <p:extLst>
      <p:ext uri="{BB962C8B-B14F-4D97-AF65-F5344CB8AC3E}">
        <p14:creationId xmlns:p14="http://schemas.microsoft.com/office/powerpoint/2010/main" val="5827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A462B-6F34-491F-668E-80B4ED7E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5C26-5BCC-3D99-A62B-462F2A73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009" y="445709"/>
            <a:ext cx="9173981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Binary → Decimal 2</a:t>
            </a:r>
            <a:r>
              <a:rPr lang="en-US" baseline="30000" dirty="0"/>
              <a:t>nd</a:t>
            </a:r>
            <a:r>
              <a:rPr lang="en-US" dirty="0"/>
              <a:t> part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EAF9C2-EE4D-3586-3172-75600CE18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38" y="2067090"/>
            <a:ext cx="8262198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 2 (Negative):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 the 4-bit Signed Binary number 1101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endParaRPr lang="en-US" altLang="en-US" dirty="0"/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 Bit: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 (Negative </a:t>
            </a:r>
            <a:r>
              <a:rPr lang="en-US" b="1" dirty="0"/>
              <a:t>―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Magnitude Bits: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Magnitude Decimal: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101</a:t>
            </a:r>
            <a:r>
              <a:rPr kumimoji="0" lang="en-US" altLang="en-US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5</a:t>
            </a: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657350" lvl="3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047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D15ED-51B4-E5E3-1B4F-A41ADE2C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AB7D-01DB-7749-D731-8328FB74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31079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Decimal → Hex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5F7ECF-CB2D-8E48-5BD8-3278097DC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44406"/>
              </p:ext>
            </p:extLst>
          </p:nvPr>
        </p:nvGraphicFramePr>
        <p:xfrm>
          <a:off x="2976380" y="2793673"/>
          <a:ext cx="7210286" cy="209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367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688797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1960561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  <a:gridCol w="1960561">
                  <a:extLst>
                    <a:ext uri="{9D8B030D-6E8A-4147-A177-3AD203B41FA5}">
                      <a16:colId xmlns:a16="http://schemas.microsoft.com/office/drawing/2014/main" val="3910885125"/>
                    </a:ext>
                  </a:extLst>
                </a:gridCol>
              </a:tblGrid>
              <a:tr h="652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Quotient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 Digit (Remainder Conversion)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42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497 /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31 /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 (Since 15 = F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/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C17DFDA-3B22-5D4D-1191-8BC93380EE66}"/>
              </a:ext>
            </a:extLst>
          </p:cNvPr>
          <p:cNvSpPr txBox="1"/>
          <p:nvPr/>
        </p:nvSpPr>
        <p:spPr>
          <a:xfrm>
            <a:off x="2105607" y="1183227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method involves repeatedly dividing the decimal number by 16 and recording the remainders.</a:t>
            </a:r>
            <a:endParaRPr lang="en-US" baseline="-2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4E93CD-8FDA-99EB-BF99-76B17B8D583B}"/>
              </a:ext>
            </a:extLst>
          </p:cNvPr>
          <p:cNvSpPr txBox="1"/>
          <p:nvPr/>
        </p:nvSpPr>
        <p:spPr>
          <a:xfrm>
            <a:off x="2845984" y="5481886"/>
            <a:ext cx="596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Reading the Hex Digits from bottom to top: 497</a:t>
            </a:r>
            <a:r>
              <a:rPr lang="en-US" baseline="-25000" dirty="0"/>
              <a:t>10</a:t>
            </a:r>
            <a:r>
              <a:rPr lang="en-US" dirty="0"/>
              <a:t> = 1F1</a:t>
            </a:r>
            <a:r>
              <a:rPr lang="en-US" baseline="-25000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EA4F0-E3D9-4B8A-C2DF-183567863622}"/>
              </a:ext>
            </a:extLst>
          </p:cNvPr>
          <p:cNvSpPr txBox="1"/>
          <p:nvPr/>
        </p:nvSpPr>
        <p:spPr>
          <a:xfrm>
            <a:off x="2580126" y="1946729"/>
            <a:ext cx="404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Converting 497</a:t>
            </a:r>
            <a:r>
              <a:rPr lang="en-US" baseline="-25000" dirty="0"/>
              <a:t>10</a:t>
            </a:r>
            <a:r>
              <a:rPr lang="en-US" dirty="0"/>
              <a:t> to Hex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1940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F490F-7AC6-DA50-AB0F-CB65179F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BCF0-EC36-4466-19A1-FE54A4D4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14590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Hex → 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3D1CB-185D-D9C4-BBB5-8B4C8E6C53F1}"/>
              </a:ext>
            </a:extLst>
          </p:cNvPr>
          <p:cNvSpPr txBox="1"/>
          <p:nvPr/>
        </p:nvSpPr>
        <p:spPr>
          <a:xfrm>
            <a:off x="2029228" y="805409"/>
            <a:ext cx="8081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Converting a Hexadecimal (Base-16) number back to a Decimal (Base-10) number uses the same Positional Notation Method as binary-to-decimal, but with powers of 16.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0C712-196B-234F-969B-80A5CB4C446B}"/>
              </a:ext>
            </a:extLst>
          </p:cNvPr>
          <p:cNvSpPr txBox="1"/>
          <p:nvPr/>
        </p:nvSpPr>
        <p:spPr>
          <a:xfrm>
            <a:off x="5301167" y="5872711"/>
            <a:ext cx="3747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1F1</a:t>
            </a:r>
            <a:r>
              <a:rPr lang="en-US" baseline="-25000" dirty="0"/>
              <a:t>16 </a:t>
            </a:r>
            <a:r>
              <a:rPr lang="en-US" dirty="0"/>
              <a:t>= 256 + 240 + 1 = 497</a:t>
            </a:r>
            <a:r>
              <a:rPr lang="en-US" baseline="-25000" dirty="0"/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8D0A0-067C-9527-0695-F5AD7FFDA2CE}"/>
              </a:ext>
            </a:extLst>
          </p:cNvPr>
          <p:cNvSpPr txBox="1"/>
          <p:nvPr/>
        </p:nvSpPr>
        <p:spPr>
          <a:xfrm>
            <a:off x="2422464" y="4596138"/>
            <a:ext cx="106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Leftmost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2CA0B-0E61-8961-F83D-CDAA95A84128}"/>
              </a:ext>
            </a:extLst>
          </p:cNvPr>
          <p:cNvSpPr txBox="1"/>
          <p:nvPr/>
        </p:nvSpPr>
        <p:spPr>
          <a:xfrm>
            <a:off x="2428419" y="5335667"/>
            <a:ext cx="121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Rightmost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E511F-50A0-707C-F663-194AF664CD0F}"/>
              </a:ext>
            </a:extLst>
          </p:cNvPr>
          <p:cNvSpPr txBox="1"/>
          <p:nvPr/>
        </p:nvSpPr>
        <p:spPr>
          <a:xfrm>
            <a:off x="2029228" y="1671345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Write down the Hex number. Starting from the rightmost digit, assign increasing powers of 16 to each position, starting with 16</a:t>
            </a:r>
            <a:r>
              <a:rPr lang="en-US" baseline="30000" dirty="0"/>
              <a:t>0</a:t>
            </a:r>
            <a:r>
              <a:rPr lang="en-US" dirty="0"/>
              <a:t> (which is 1).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8CF6FE-8066-A394-E9F2-5E7BE792296C}"/>
              </a:ext>
            </a:extLst>
          </p:cNvPr>
          <p:cNvSpPr txBox="1"/>
          <p:nvPr/>
        </p:nvSpPr>
        <p:spPr>
          <a:xfrm>
            <a:off x="2029228" y="2317231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Convert any Hex letters (A-F) into their corresponding decimal values       (10-15, e.g., A=10, B=11, C=12, D=13, E=14, F=15).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3A612F-4690-99EA-042A-FCE80F1E3A37}"/>
              </a:ext>
            </a:extLst>
          </p:cNvPr>
          <p:cNvSpPr txBox="1"/>
          <p:nvPr/>
        </p:nvSpPr>
        <p:spPr>
          <a:xfrm>
            <a:off x="2029228" y="2934338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Multiply the decimal value of each Hex digit by its corresponding power of 16.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FE3EF-C367-BD91-4C83-5645E7ABEFF4}"/>
              </a:ext>
            </a:extLst>
          </p:cNvPr>
          <p:cNvSpPr txBox="1"/>
          <p:nvPr/>
        </p:nvSpPr>
        <p:spPr>
          <a:xfrm>
            <a:off x="2031728" y="3520846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Sum all the results from Step 3. This final sum is the decimal equivalent.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1DAD844-2122-19C5-F254-7A16A5F08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78400"/>
              </p:ext>
            </p:extLst>
          </p:nvPr>
        </p:nvGraphicFramePr>
        <p:xfrm>
          <a:off x="3655318" y="3937116"/>
          <a:ext cx="6687895" cy="1831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788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2034281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  <a:gridCol w="2008682">
                  <a:extLst>
                    <a:ext uri="{9D8B030D-6E8A-4147-A177-3AD203B41FA5}">
                      <a16:colId xmlns:a16="http://schemas.microsoft.com/office/drawing/2014/main" val="3910885125"/>
                    </a:ext>
                  </a:extLst>
                </a:gridCol>
              </a:tblGrid>
              <a:tr h="652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Decimal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Power of 16 (16</a:t>
                      </a:r>
                      <a:r>
                        <a:rPr lang="en-US" baseline="30000" dirty="0"/>
                        <a:t>n</a:t>
                      </a:r>
                      <a:r>
                        <a:rPr lang="en-US" dirty="0"/>
                        <a:t>)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Positional Value (Digit x 16</a:t>
                      </a:r>
                      <a:r>
                        <a:rPr lang="en-US" baseline="30000" dirty="0"/>
                        <a:t>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42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r>
                        <a:rPr lang="en-US" b="1" baseline="30000" dirty="0"/>
                        <a:t>2 </a:t>
                      </a:r>
                      <a:r>
                        <a:rPr lang="en-US" b="1" dirty="0"/>
                        <a:t>= 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x 256 = 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r>
                        <a:rPr lang="en-US" b="1" baseline="30000" dirty="0"/>
                        <a:t>1</a:t>
                      </a:r>
                      <a:r>
                        <a:rPr lang="en-US" b="1" dirty="0"/>
                        <a:t> =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 x 16 = 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</a:t>
                      </a:r>
                      <a:r>
                        <a:rPr lang="en-US" b="1" baseline="30000" dirty="0"/>
                        <a:t>0 </a:t>
                      </a:r>
                      <a:r>
                        <a:rPr lang="en-US" b="1" dirty="0"/>
                        <a:t>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x 1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99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3BF68-D4CE-219A-CC21-DB38A3A7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DEB3-1227-C8D4-8F89-254C0B06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14590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→ Hex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6CF80-0F46-D3D0-386A-2ED0ECF39CF5}"/>
              </a:ext>
            </a:extLst>
          </p:cNvPr>
          <p:cNvSpPr txBox="1"/>
          <p:nvPr/>
        </p:nvSpPr>
        <p:spPr>
          <a:xfrm>
            <a:off x="2029228" y="805409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 numbers are grouped into sets of four bits (nibbles), and each group is converted directly into a single Hex digit.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AEBCC7-B171-9066-114F-B1C2D193220F}"/>
              </a:ext>
            </a:extLst>
          </p:cNvPr>
          <p:cNvSpPr txBox="1"/>
          <p:nvPr/>
        </p:nvSpPr>
        <p:spPr>
          <a:xfrm>
            <a:off x="5301167" y="5872711"/>
            <a:ext cx="2402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10110111</a:t>
            </a:r>
            <a:r>
              <a:rPr lang="en-US" baseline="-25000" dirty="0"/>
              <a:t>2</a:t>
            </a:r>
            <a:r>
              <a:rPr lang="en-US" dirty="0"/>
              <a:t> = B7</a:t>
            </a:r>
            <a:r>
              <a:rPr lang="en-US" baseline="-25000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31B25-5A74-04C4-D045-D70E6CE4B386}"/>
              </a:ext>
            </a:extLst>
          </p:cNvPr>
          <p:cNvSpPr txBox="1"/>
          <p:nvPr/>
        </p:nvSpPr>
        <p:spPr>
          <a:xfrm>
            <a:off x="2029228" y="1671345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Starting from the right, divide the binary number into groups of four bits. (If the last group on the left is incomplete, add leading zeros.)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1B8B7-711E-30A2-F6BE-53DCD39C7A0F}"/>
              </a:ext>
            </a:extLst>
          </p:cNvPr>
          <p:cNvSpPr txBox="1"/>
          <p:nvPr/>
        </p:nvSpPr>
        <p:spPr>
          <a:xfrm>
            <a:off x="2029228" y="2317231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Convert each 4-bit group into its single Hexadecimal equivalent (0-F).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A8184B-C8B8-D26B-1245-BCB5F008D6AC}"/>
              </a:ext>
            </a:extLst>
          </p:cNvPr>
          <p:cNvSpPr txBox="1"/>
          <p:nvPr/>
        </p:nvSpPr>
        <p:spPr>
          <a:xfrm>
            <a:off x="2029228" y="2934338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Combine the Hex digits to get the final result.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1BA6F-4345-0246-2419-D7CB5ED56E40}"/>
              </a:ext>
            </a:extLst>
          </p:cNvPr>
          <p:cNvSpPr txBox="1"/>
          <p:nvPr/>
        </p:nvSpPr>
        <p:spPr>
          <a:xfrm>
            <a:off x="2031728" y="3520846"/>
            <a:ext cx="4064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Convert 10110111</a:t>
            </a:r>
            <a:r>
              <a:rPr lang="en-US" baseline="-25000" dirty="0"/>
              <a:t>2</a:t>
            </a:r>
            <a:r>
              <a:rPr lang="en-US" dirty="0"/>
              <a:t> to Hex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DD7317-6808-4F3D-B834-3BE87B011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896147"/>
              </p:ext>
            </p:extLst>
          </p:nvPr>
        </p:nvGraphicFramePr>
        <p:xfrm>
          <a:off x="3655318" y="3937116"/>
          <a:ext cx="6687895" cy="1831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788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2034281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  <a:gridCol w="2008682">
                  <a:extLst>
                    <a:ext uri="{9D8B030D-6E8A-4147-A177-3AD203B41FA5}">
                      <a16:colId xmlns:a16="http://schemas.microsoft.com/office/drawing/2014/main" val="3910885125"/>
                    </a:ext>
                  </a:extLst>
                </a:gridCol>
              </a:tblGrid>
              <a:tr h="652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Decimal Value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 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42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Group1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Group2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1011 0111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71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8E448-4EE4-455A-5F75-7357BC3E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43B5-5551-E874-0CBC-68693B65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318" y="145908"/>
            <a:ext cx="4566954" cy="709715"/>
          </a:xfrm>
        </p:spPr>
        <p:txBody>
          <a:bodyPr>
            <a:normAutofit fontScale="90000"/>
          </a:bodyPr>
          <a:lstStyle/>
          <a:p>
            <a:r>
              <a:rPr lang="en-US" dirty="0"/>
              <a:t>Hex → Binary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46B3C-9A37-058E-9F0C-5F94688F6D2E}"/>
              </a:ext>
            </a:extLst>
          </p:cNvPr>
          <p:cNvSpPr txBox="1"/>
          <p:nvPr/>
        </p:nvSpPr>
        <p:spPr>
          <a:xfrm>
            <a:off x="2029228" y="805409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single Hex digit (0-F) is directly expanded into its corresponding four-bit binary representation.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2A22B-D5FB-D14F-14DE-30947733CE0E}"/>
              </a:ext>
            </a:extLst>
          </p:cNvPr>
          <p:cNvSpPr txBox="1"/>
          <p:nvPr/>
        </p:nvSpPr>
        <p:spPr>
          <a:xfrm>
            <a:off x="5301167" y="5872711"/>
            <a:ext cx="250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So: 5C</a:t>
            </a:r>
            <a:r>
              <a:rPr lang="en-US" baseline="-25000" dirty="0"/>
              <a:t>16</a:t>
            </a:r>
            <a:r>
              <a:rPr lang="en-US" dirty="0"/>
              <a:t> = 01011100</a:t>
            </a:r>
            <a:r>
              <a:rPr lang="en-US" baseline="-250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0DCE7-7978-1C89-44CD-1892599FFFA7}"/>
              </a:ext>
            </a:extLst>
          </p:cNvPr>
          <p:cNvSpPr txBox="1"/>
          <p:nvPr/>
        </p:nvSpPr>
        <p:spPr>
          <a:xfrm>
            <a:off x="2029228" y="1671345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Separate the Hex digits.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222DB-5D94-BBB1-D9AD-A030D20F01C0}"/>
              </a:ext>
            </a:extLst>
          </p:cNvPr>
          <p:cNvSpPr txBox="1"/>
          <p:nvPr/>
        </p:nvSpPr>
        <p:spPr>
          <a:xfrm>
            <a:off x="2029228" y="2212301"/>
            <a:ext cx="808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Convert each Hex digit into its equivalent four-bit binary number. Crucially, include leading zeros if necessary.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F96D3-24A0-613E-3CC1-3793C08D3D27}"/>
              </a:ext>
            </a:extLst>
          </p:cNvPr>
          <p:cNvSpPr txBox="1"/>
          <p:nvPr/>
        </p:nvSpPr>
        <p:spPr>
          <a:xfrm>
            <a:off x="2029228" y="2934338"/>
            <a:ext cx="808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Combine the 4-bit groups together to form the final binary number.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6A80C0-1FD3-5AD8-B7C5-2C815F901129}"/>
              </a:ext>
            </a:extLst>
          </p:cNvPr>
          <p:cNvSpPr txBox="1"/>
          <p:nvPr/>
        </p:nvSpPr>
        <p:spPr>
          <a:xfrm>
            <a:off x="2031727" y="3430906"/>
            <a:ext cx="5193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 Convert 5C</a:t>
            </a:r>
            <a:r>
              <a:rPr lang="en-US" baseline="-25000" dirty="0"/>
              <a:t>16</a:t>
            </a:r>
            <a:r>
              <a:rPr lang="en-US" dirty="0"/>
              <a:t> to Binary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D00D5B-C728-2785-5FE0-90EF8D93C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505125"/>
              </p:ext>
            </p:extLst>
          </p:nvPr>
        </p:nvGraphicFramePr>
        <p:xfrm>
          <a:off x="3655318" y="3937116"/>
          <a:ext cx="6687895" cy="1831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788">
                  <a:extLst>
                    <a:ext uri="{9D8B030D-6E8A-4147-A177-3AD203B41FA5}">
                      <a16:colId xmlns:a16="http://schemas.microsoft.com/office/drawing/2014/main" val="381323005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3178616541"/>
                    </a:ext>
                  </a:extLst>
                </a:gridCol>
                <a:gridCol w="2034281">
                  <a:extLst>
                    <a:ext uri="{9D8B030D-6E8A-4147-A177-3AD203B41FA5}">
                      <a16:colId xmlns:a16="http://schemas.microsoft.com/office/drawing/2014/main" val="1868999023"/>
                    </a:ext>
                  </a:extLst>
                </a:gridCol>
                <a:gridCol w="2008682">
                  <a:extLst>
                    <a:ext uri="{9D8B030D-6E8A-4147-A177-3AD203B41FA5}">
                      <a16:colId xmlns:a16="http://schemas.microsoft.com/office/drawing/2014/main" val="3910885125"/>
                    </a:ext>
                  </a:extLst>
                </a:gridCol>
              </a:tblGrid>
              <a:tr h="652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Decimal Value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Hex 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77817"/>
                  </a:ext>
                </a:extLst>
              </a:tr>
              <a:tr h="3842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Digit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307737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Digit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</a:t>
                      </a:r>
                      <a:r>
                        <a:rPr lang="en-US" b="1" baseline="-25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53083"/>
                  </a:ext>
                </a:extLst>
              </a:tr>
              <a:tr h="3973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01011100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9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93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479CA-7058-33D8-6F9C-7C351099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5E97-2F3B-A4C4-71F4-3BF057C4A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73312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7026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Integer pillars</Template>
  <TotalTime>345</TotalTime>
  <Words>1323</Words>
  <Application>Microsoft Office PowerPoint</Application>
  <PresentationFormat>Widescreen</PresentationFormat>
  <Paragraphs>211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Nova</vt:lpstr>
      <vt:lpstr>Arial Nova Light</vt:lpstr>
      <vt:lpstr>Google Sans Text</vt:lpstr>
      <vt:lpstr>Wingdings</vt:lpstr>
      <vt:lpstr>Wingdings 2</vt:lpstr>
      <vt:lpstr>SlateVTI</vt:lpstr>
      <vt:lpstr>Number System</vt:lpstr>
      <vt:lpstr>Decimal → Binary</vt:lpstr>
      <vt:lpstr>Binary → Decimal</vt:lpstr>
      <vt:lpstr>Fractional Decimal → Binary</vt:lpstr>
      <vt:lpstr>Two’s Compliment → Decimal 1st part</vt:lpstr>
      <vt:lpstr>Two’s Compliment → Decimal 2nd part</vt:lpstr>
      <vt:lpstr>Signed Binary → Decimal 1st part</vt:lpstr>
      <vt:lpstr>Signed Binary → Decimal 2nd part</vt:lpstr>
      <vt:lpstr>Decimal → Hex</vt:lpstr>
      <vt:lpstr>Hex → Decimal</vt:lpstr>
      <vt:lpstr>Binary → Hex</vt:lpstr>
      <vt:lpstr>Hex → Binary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Saifur Rahman</dc:creator>
  <cp:lastModifiedBy>Md Saifur Rahman</cp:lastModifiedBy>
  <cp:revision>8</cp:revision>
  <dcterms:created xsi:type="dcterms:W3CDTF">2025-12-08T13:37:01Z</dcterms:created>
  <dcterms:modified xsi:type="dcterms:W3CDTF">2025-12-13T13:13:19Z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